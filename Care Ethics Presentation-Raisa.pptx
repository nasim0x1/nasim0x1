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Norwester" panose="020B0604020202020204" charset="0"/>
      <p:regular r:id="rId11"/>
    </p:embeddedFont>
    <p:embeddedFont>
      <p:font typeface="Poppins" panose="00000500000000000000" pitchFamily="2" charset="0"/>
      <p:regular r:id="rId12"/>
    </p:embeddedFont>
    <p:embeddedFont>
      <p:font typeface="Poppins Bold" panose="020B0604020202020204" charset="0"/>
      <p:regular r:id="rId13"/>
    </p:embeddedFont>
    <p:embeddedFont>
      <p:font typeface="Poppins Semi-Bold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55" y="-10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06-Apr-26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4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8.sv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0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11" b="-13111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1774858" y="6422467"/>
            <a:ext cx="1248155" cy="0"/>
          </a:xfrm>
          <a:prstGeom prst="line">
            <a:avLst/>
          </a:prstGeom>
          <a:ln w="5715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" name="Group 4"/>
          <p:cNvGrpSpPr/>
          <p:nvPr/>
        </p:nvGrpSpPr>
        <p:grpSpPr>
          <a:xfrm>
            <a:off x="10644959" y="2230273"/>
            <a:ext cx="6614341" cy="7028027"/>
            <a:chOff x="0" y="0"/>
            <a:chExt cx="1024735" cy="108882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24735" cy="1088825"/>
            </a:xfrm>
            <a:custGeom>
              <a:avLst/>
              <a:gdLst/>
              <a:ahLst/>
              <a:cxnLst/>
              <a:rect l="l" t="t" r="r" b="b"/>
              <a:pathLst>
                <a:path w="1024735" h="1088825">
                  <a:moveTo>
                    <a:pt x="117047" y="0"/>
                  </a:moveTo>
                  <a:lnTo>
                    <a:pt x="907687" y="0"/>
                  </a:lnTo>
                  <a:cubicBezTo>
                    <a:pt x="938730" y="0"/>
                    <a:pt x="968501" y="12332"/>
                    <a:pt x="990452" y="34282"/>
                  </a:cubicBezTo>
                  <a:cubicBezTo>
                    <a:pt x="1012403" y="56233"/>
                    <a:pt x="1024735" y="86005"/>
                    <a:pt x="1024735" y="117047"/>
                  </a:cubicBezTo>
                  <a:lnTo>
                    <a:pt x="1024735" y="971778"/>
                  </a:lnTo>
                  <a:cubicBezTo>
                    <a:pt x="1024735" y="1002821"/>
                    <a:pt x="1012403" y="1032592"/>
                    <a:pt x="990452" y="1054543"/>
                  </a:cubicBezTo>
                  <a:cubicBezTo>
                    <a:pt x="968501" y="1076494"/>
                    <a:pt x="938730" y="1088825"/>
                    <a:pt x="907687" y="1088825"/>
                  </a:cubicBezTo>
                  <a:lnTo>
                    <a:pt x="117047" y="1088825"/>
                  </a:lnTo>
                  <a:cubicBezTo>
                    <a:pt x="52404" y="1088825"/>
                    <a:pt x="0" y="1036421"/>
                    <a:pt x="0" y="971778"/>
                  </a:cubicBezTo>
                  <a:lnTo>
                    <a:pt x="0" y="117047"/>
                  </a:lnTo>
                  <a:cubicBezTo>
                    <a:pt x="0" y="86005"/>
                    <a:pt x="12332" y="56233"/>
                    <a:pt x="34282" y="34282"/>
                  </a:cubicBezTo>
                  <a:cubicBezTo>
                    <a:pt x="56233" y="12332"/>
                    <a:pt x="86005" y="0"/>
                    <a:pt x="117047" y="0"/>
                  </a:cubicBezTo>
                  <a:close/>
                </a:path>
              </a:pathLst>
            </a:custGeom>
            <a:blipFill>
              <a:blip r:embed="rId3"/>
              <a:stretch>
                <a:fillRect l="-74932" r="-14850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10800000">
            <a:off x="7343980" y="6172200"/>
            <a:ext cx="5388429" cy="4114800"/>
          </a:xfrm>
          <a:custGeom>
            <a:avLst/>
            <a:gdLst/>
            <a:ahLst/>
            <a:cxnLst/>
            <a:rect l="l" t="t" r="r" b="b"/>
            <a:pathLst>
              <a:path w="5388429" h="4114800">
                <a:moveTo>
                  <a:pt x="0" y="0"/>
                </a:moveTo>
                <a:lnTo>
                  <a:pt x="5388429" y="0"/>
                </a:lnTo>
                <a:lnTo>
                  <a:pt x="5388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52776" y="1363708"/>
            <a:ext cx="1406524" cy="670017"/>
          </a:xfrm>
          <a:custGeom>
            <a:avLst/>
            <a:gdLst/>
            <a:ahLst/>
            <a:cxnLst/>
            <a:rect l="l" t="t" r="r" b="b"/>
            <a:pathLst>
              <a:path w="1406524" h="670017">
                <a:moveTo>
                  <a:pt x="0" y="0"/>
                </a:moveTo>
                <a:lnTo>
                  <a:pt x="1406524" y="0"/>
                </a:lnTo>
                <a:lnTo>
                  <a:pt x="1406524" y="670017"/>
                </a:lnTo>
                <a:lnTo>
                  <a:pt x="0" y="670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028700" y="-2539908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5400000">
            <a:off x="1916637" y="6501872"/>
            <a:ext cx="1868492" cy="5701765"/>
          </a:xfrm>
          <a:custGeom>
            <a:avLst/>
            <a:gdLst/>
            <a:ahLst/>
            <a:cxnLst/>
            <a:rect l="l" t="t" r="r" b="b"/>
            <a:pathLst>
              <a:path w="1868492" h="5701765">
                <a:moveTo>
                  <a:pt x="0" y="0"/>
                </a:moveTo>
                <a:lnTo>
                  <a:pt x="1868491" y="0"/>
                </a:lnTo>
                <a:lnTo>
                  <a:pt x="1868491" y="5701765"/>
                </a:lnTo>
                <a:lnTo>
                  <a:pt x="0" y="57017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400222" y="487219"/>
            <a:ext cx="2613029" cy="2175346"/>
          </a:xfrm>
          <a:custGeom>
            <a:avLst/>
            <a:gdLst/>
            <a:ahLst/>
            <a:cxnLst/>
            <a:rect l="l" t="t" r="r" b="b"/>
            <a:pathLst>
              <a:path w="2613029" h="2175346">
                <a:moveTo>
                  <a:pt x="0" y="0"/>
                </a:moveTo>
                <a:lnTo>
                  <a:pt x="2613028" y="0"/>
                </a:lnTo>
                <a:lnTo>
                  <a:pt x="2613028" y="2175346"/>
                </a:lnTo>
                <a:lnTo>
                  <a:pt x="0" y="2175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74858" y="3384118"/>
            <a:ext cx="6944677" cy="347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Welcome   </a:t>
            </a:r>
          </a:p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To My    </a:t>
            </a:r>
          </a:p>
          <a:p>
            <a:pPr algn="l">
              <a:lnSpc>
                <a:spcPts val="6800"/>
              </a:lnSpc>
            </a:pPr>
            <a:r>
              <a:rPr lang="en-US" sz="680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Presentation    </a:t>
            </a:r>
          </a:p>
          <a:p>
            <a:pPr algn="l">
              <a:lnSpc>
                <a:spcPts val="6800"/>
              </a:lnSpc>
            </a:pPr>
            <a:endParaRPr lang="en-US" sz="6800">
              <a:solidFill>
                <a:srgbClr val="6B3000"/>
              </a:solidFill>
              <a:latin typeface="Norwester"/>
              <a:ea typeface="Norwester"/>
              <a:cs typeface="Norwester"/>
              <a:sym typeface="Norweste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74858" y="7469183"/>
            <a:ext cx="2639380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Presented By: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4858" y="7869868"/>
            <a:ext cx="5127281" cy="42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b="1" dirty="0">
                <a:solidFill>
                  <a:srgbClr val="6B3000"/>
                </a:solidFill>
                <a:latin typeface="Poppins Bold"/>
                <a:ea typeface="Poppins Bold"/>
                <a:cs typeface="Poppins Bold"/>
                <a:sym typeface="Poppins Bold"/>
              </a:rPr>
              <a:t>Rifah Tasnia Raisa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11" b="-13111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638413" y="157102"/>
            <a:ext cx="3759718" cy="1893531"/>
          </a:xfrm>
          <a:custGeom>
            <a:avLst/>
            <a:gdLst/>
            <a:ahLst/>
            <a:cxnLst/>
            <a:rect l="l" t="t" r="r" b="b"/>
            <a:pathLst>
              <a:path w="3759718" h="1893531">
                <a:moveTo>
                  <a:pt x="0" y="0"/>
                </a:moveTo>
                <a:lnTo>
                  <a:pt x="3759718" y="0"/>
                </a:lnTo>
                <a:lnTo>
                  <a:pt x="3759718" y="1893531"/>
                </a:lnTo>
                <a:lnTo>
                  <a:pt x="0" y="18935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583645" y="2207735"/>
            <a:ext cx="6658648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Care ethics </a:t>
            </a:r>
          </a:p>
        </p:txBody>
      </p:sp>
      <p:sp>
        <p:nvSpPr>
          <p:cNvPr id="5" name="Freeform 5"/>
          <p:cNvSpPr/>
          <p:nvPr/>
        </p:nvSpPr>
        <p:spPr>
          <a:xfrm>
            <a:off x="13884379" y="0"/>
            <a:ext cx="8807241" cy="6725530"/>
          </a:xfrm>
          <a:custGeom>
            <a:avLst/>
            <a:gdLst/>
            <a:ahLst/>
            <a:cxnLst/>
            <a:rect l="l" t="t" r="r" b="b"/>
            <a:pathLst>
              <a:path w="8807241" h="6725530">
                <a:moveTo>
                  <a:pt x="0" y="0"/>
                </a:moveTo>
                <a:lnTo>
                  <a:pt x="8807242" y="0"/>
                </a:lnTo>
                <a:lnTo>
                  <a:pt x="8807242" y="6725530"/>
                </a:lnTo>
                <a:lnTo>
                  <a:pt x="0" y="67255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1372581" y="7349745"/>
            <a:ext cx="4766475" cy="7511636"/>
          </a:xfrm>
          <a:custGeom>
            <a:avLst/>
            <a:gdLst/>
            <a:ahLst/>
            <a:cxnLst/>
            <a:rect l="l" t="t" r="r" b="b"/>
            <a:pathLst>
              <a:path w="4766475" h="7511636">
                <a:moveTo>
                  <a:pt x="0" y="0"/>
                </a:moveTo>
                <a:lnTo>
                  <a:pt x="4766474" y="0"/>
                </a:lnTo>
                <a:lnTo>
                  <a:pt x="4766474" y="7511636"/>
                </a:lnTo>
                <a:lnTo>
                  <a:pt x="0" y="7511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873889" y="-58973"/>
            <a:ext cx="2613029" cy="2175346"/>
          </a:xfrm>
          <a:custGeom>
            <a:avLst/>
            <a:gdLst/>
            <a:ahLst/>
            <a:cxnLst/>
            <a:rect l="l" t="t" r="r" b="b"/>
            <a:pathLst>
              <a:path w="2613029" h="2175346">
                <a:moveTo>
                  <a:pt x="0" y="0"/>
                </a:moveTo>
                <a:lnTo>
                  <a:pt x="2613029" y="0"/>
                </a:lnTo>
                <a:lnTo>
                  <a:pt x="2613029" y="2175346"/>
                </a:lnTo>
                <a:lnTo>
                  <a:pt x="0" y="2175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189267" y="9160475"/>
            <a:ext cx="1406524" cy="670017"/>
          </a:xfrm>
          <a:custGeom>
            <a:avLst/>
            <a:gdLst/>
            <a:ahLst/>
            <a:cxnLst/>
            <a:rect l="l" t="t" r="r" b="b"/>
            <a:pathLst>
              <a:path w="1406524" h="670017">
                <a:moveTo>
                  <a:pt x="0" y="0"/>
                </a:moveTo>
                <a:lnTo>
                  <a:pt x="1406524" y="0"/>
                </a:lnTo>
                <a:lnTo>
                  <a:pt x="1406524" y="670017"/>
                </a:lnTo>
                <a:lnTo>
                  <a:pt x="0" y="670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9144000" y="3542250"/>
            <a:ext cx="6454587" cy="5246370"/>
            <a:chOff x="0" y="0"/>
            <a:chExt cx="999984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99984" cy="812800"/>
            </a:xfrm>
            <a:custGeom>
              <a:avLst/>
              <a:gdLst/>
              <a:ahLst/>
              <a:cxnLst/>
              <a:rect l="l" t="t" r="r" b="b"/>
              <a:pathLst>
                <a:path w="999984" h="812800">
                  <a:moveTo>
                    <a:pt x="0" y="0"/>
                  </a:moveTo>
                  <a:lnTo>
                    <a:pt x="999984" y="0"/>
                  </a:lnTo>
                  <a:lnTo>
                    <a:pt x="999984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8"/>
              <a:stretch>
                <a:fillRect l="-59617" t="-5230" b="-5230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566001" y="3408767"/>
            <a:ext cx="6353274" cy="103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Care ethics is an approach in moral philosophy that argues: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66001" y="5067300"/>
            <a:ext cx="6695344" cy="154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Morality is rooted in caring relationships and the responsibility to respond to others’ needs.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66001" y="2560478"/>
            <a:ext cx="3539246" cy="625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6B3000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98943" y="0"/>
            <a:ext cx="18586943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11" b="-1311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Freeform 3"/>
          <p:cNvSpPr/>
          <p:nvPr/>
        </p:nvSpPr>
        <p:spPr>
          <a:xfrm rot="-5400000">
            <a:off x="8824467" y="-5682160"/>
            <a:ext cx="7347659" cy="11579406"/>
          </a:xfrm>
          <a:custGeom>
            <a:avLst/>
            <a:gdLst/>
            <a:ahLst/>
            <a:cxnLst/>
            <a:rect l="l" t="t" r="r" b="b"/>
            <a:pathLst>
              <a:path w="7347659" h="11579406">
                <a:moveTo>
                  <a:pt x="0" y="0"/>
                </a:moveTo>
                <a:lnTo>
                  <a:pt x="7347660" y="0"/>
                </a:lnTo>
                <a:lnTo>
                  <a:pt x="7347660" y="11579406"/>
                </a:lnTo>
                <a:lnTo>
                  <a:pt x="0" y="1157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4" name="Group 4"/>
          <p:cNvGrpSpPr/>
          <p:nvPr/>
        </p:nvGrpSpPr>
        <p:grpSpPr>
          <a:xfrm>
            <a:off x="12212137" y="1781397"/>
            <a:ext cx="6105989" cy="7010400"/>
            <a:chOff x="0" y="0"/>
            <a:chExt cx="899880" cy="106877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9880" cy="1068775"/>
            </a:xfrm>
            <a:custGeom>
              <a:avLst/>
              <a:gdLst/>
              <a:ahLst/>
              <a:cxnLst/>
              <a:rect l="l" t="t" r="r" b="b"/>
              <a:pathLst>
                <a:path w="899880" h="1068775">
                  <a:moveTo>
                    <a:pt x="33519" y="0"/>
                  </a:moveTo>
                  <a:lnTo>
                    <a:pt x="866361" y="0"/>
                  </a:lnTo>
                  <a:cubicBezTo>
                    <a:pt x="875251" y="0"/>
                    <a:pt x="883777" y="3531"/>
                    <a:pt x="890063" y="9818"/>
                  </a:cubicBezTo>
                  <a:cubicBezTo>
                    <a:pt x="896349" y="16104"/>
                    <a:pt x="899880" y="24629"/>
                    <a:pt x="899880" y="33519"/>
                  </a:cubicBezTo>
                  <a:lnTo>
                    <a:pt x="899880" y="1035256"/>
                  </a:lnTo>
                  <a:cubicBezTo>
                    <a:pt x="899880" y="1044145"/>
                    <a:pt x="896349" y="1052671"/>
                    <a:pt x="890063" y="1058957"/>
                  </a:cubicBezTo>
                  <a:cubicBezTo>
                    <a:pt x="883777" y="1065243"/>
                    <a:pt x="875251" y="1068775"/>
                    <a:pt x="866361" y="1068775"/>
                  </a:cubicBezTo>
                  <a:lnTo>
                    <a:pt x="33519" y="1068775"/>
                  </a:lnTo>
                  <a:cubicBezTo>
                    <a:pt x="24629" y="1068775"/>
                    <a:pt x="16104" y="1065243"/>
                    <a:pt x="9818" y="1058957"/>
                  </a:cubicBezTo>
                  <a:cubicBezTo>
                    <a:pt x="3531" y="1052671"/>
                    <a:pt x="0" y="1044145"/>
                    <a:pt x="0" y="1035256"/>
                  </a:cubicBezTo>
                  <a:lnTo>
                    <a:pt x="0" y="33519"/>
                  </a:lnTo>
                  <a:cubicBezTo>
                    <a:pt x="0" y="24629"/>
                    <a:pt x="3531" y="16104"/>
                    <a:pt x="9818" y="9818"/>
                  </a:cubicBezTo>
                  <a:cubicBezTo>
                    <a:pt x="16104" y="3531"/>
                    <a:pt x="24629" y="0"/>
                    <a:pt x="33519" y="0"/>
                  </a:cubicBezTo>
                  <a:close/>
                </a:path>
              </a:pathLst>
            </a:custGeom>
            <a:blipFill>
              <a:blip r:embed="rId4"/>
              <a:stretch>
                <a:fillRect l="-2555" r="-2555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6" name="Group 6"/>
          <p:cNvGrpSpPr/>
          <p:nvPr/>
        </p:nvGrpSpPr>
        <p:grpSpPr>
          <a:xfrm>
            <a:off x="1087621" y="3654216"/>
            <a:ext cx="4168575" cy="4851784"/>
            <a:chOff x="0" y="0"/>
            <a:chExt cx="1017199" cy="118394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17199" cy="1183945"/>
            </a:xfrm>
            <a:custGeom>
              <a:avLst/>
              <a:gdLst/>
              <a:ahLst/>
              <a:cxnLst/>
              <a:rect l="l" t="t" r="r" b="b"/>
              <a:pathLst>
                <a:path w="1017199" h="1183945">
                  <a:moveTo>
                    <a:pt x="1017199" y="185721"/>
                  </a:moveTo>
                  <a:lnTo>
                    <a:pt x="1017199" y="998224"/>
                  </a:lnTo>
                  <a:cubicBezTo>
                    <a:pt x="1017199" y="1047480"/>
                    <a:pt x="997632" y="1094719"/>
                    <a:pt x="962803" y="1129548"/>
                  </a:cubicBezTo>
                  <a:cubicBezTo>
                    <a:pt x="927973" y="1164378"/>
                    <a:pt x="880734" y="1183945"/>
                    <a:pt x="831478" y="1183945"/>
                  </a:cubicBezTo>
                  <a:lnTo>
                    <a:pt x="185721" y="1183945"/>
                  </a:lnTo>
                  <a:cubicBezTo>
                    <a:pt x="136465" y="1183945"/>
                    <a:pt x="89226" y="1164378"/>
                    <a:pt x="54396" y="1129548"/>
                  </a:cubicBezTo>
                  <a:cubicBezTo>
                    <a:pt x="19567" y="1094719"/>
                    <a:pt x="0" y="1047480"/>
                    <a:pt x="0" y="998224"/>
                  </a:cubicBezTo>
                  <a:lnTo>
                    <a:pt x="0" y="185721"/>
                  </a:lnTo>
                  <a:cubicBezTo>
                    <a:pt x="0" y="136465"/>
                    <a:pt x="19567" y="89226"/>
                    <a:pt x="54396" y="54396"/>
                  </a:cubicBezTo>
                  <a:cubicBezTo>
                    <a:pt x="89226" y="19567"/>
                    <a:pt x="136465" y="0"/>
                    <a:pt x="185721" y="0"/>
                  </a:cubicBezTo>
                  <a:lnTo>
                    <a:pt x="831478" y="0"/>
                  </a:lnTo>
                  <a:cubicBezTo>
                    <a:pt x="880734" y="0"/>
                    <a:pt x="927973" y="19567"/>
                    <a:pt x="962803" y="54396"/>
                  </a:cubicBezTo>
                  <a:cubicBezTo>
                    <a:pt x="997632" y="89226"/>
                    <a:pt x="1017199" y="136465"/>
                    <a:pt x="1017199" y="185721"/>
                  </a:cubicBezTo>
                  <a:close/>
                </a:path>
              </a:pathLst>
            </a:custGeom>
            <a:solidFill>
              <a:srgbClr val="DDC4A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017199" cy="1241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911632" y="3654216"/>
            <a:ext cx="4168575" cy="4851784"/>
            <a:chOff x="0" y="0"/>
            <a:chExt cx="1017199" cy="11839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17199" cy="1183945"/>
            </a:xfrm>
            <a:custGeom>
              <a:avLst/>
              <a:gdLst/>
              <a:ahLst/>
              <a:cxnLst/>
              <a:rect l="l" t="t" r="r" b="b"/>
              <a:pathLst>
                <a:path w="1017199" h="1183945">
                  <a:moveTo>
                    <a:pt x="1017199" y="185721"/>
                  </a:moveTo>
                  <a:lnTo>
                    <a:pt x="1017199" y="998224"/>
                  </a:lnTo>
                  <a:cubicBezTo>
                    <a:pt x="1017199" y="1047480"/>
                    <a:pt x="997632" y="1094719"/>
                    <a:pt x="962803" y="1129548"/>
                  </a:cubicBezTo>
                  <a:cubicBezTo>
                    <a:pt x="927973" y="1164378"/>
                    <a:pt x="880734" y="1183945"/>
                    <a:pt x="831478" y="1183945"/>
                  </a:cubicBezTo>
                  <a:lnTo>
                    <a:pt x="185721" y="1183945"/>
                  </a:lnTo>
                  <a:cubicBezTo>
                    <a:pt x="136465" y="1183945"/>
                    <a:pt x="89226" y="1164378"/>
                    <a:pt x="54396" y="1129548"/>
                  </a:cubicBezTo>
                  <a:cubicBezTo>
                    <a:pt x="19567" y="1094719"/>
                    <a:pt x="0" y="1047480"/>
                    <a:pt x="0" y="998224"/>
                  </a:cubicBezTo>
                  <a:lnTo>
                    <a:pt x="0" y="185721"/>
                  </a:lnTo>
                  <a:cubicBezTo>
                    <a:pt x="0" y="136465"/>
                    <a:pt x="19567" y="89226"/>
                    <a:pt x="54396" y="54396"/>
                  </a:cubicBezTo>
                  <a:cubicBezTo>
                    <a:pt x="89226" y="19567"/>
                    <a:pt x="136465" y="0"/>
                    <a:pt x="185721" y="0"/>
                  </a:cubicBezTo>
                  <a:lnTo>
                    <a:pt x="831478" y="0"/>
                  </a:lnTo>
                  <a:cubicBezTo>
                    <a:pt x="880734" y="0"/>
                    <a:pt x="927973" y="19567"/>
                    <a:pt x="962803" y="54396"/>
                  </a:cubicBezTo>
                  <a:cubicBezTo>
                    <a:pt x="997632" y="89226"/>
                    <a:pt x="1017199" y="136465"/>
                    <a:pt x="1017199" y="185721"/>
                  </a:cubicBezTo>
                  <a:close/>
                </a:path>
              </a:pathLst>
            </a:custGeom>
            <a:solidFill>
              <a:srgbClr val="DDC4A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017199" cy="1241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438187" y="5612283"/>
            <a:ext cx="3229512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6B3000"/>
                </a:solidFill>
                <a:latin typeface="Poppins Bold"/>
                <a:ea typeface="Poppins Bold"/>
                <a:cs typeface="Poppins Bold"/>
                <a:sym typeface="Poppins Bold"/>
              </a:rPr>
              <a:t>Focus on Relationships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794408" y="5733597"/>
            <a:ext cx="2477773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6B3000"/>
                </a:solidFill>
                <a:latin typeface="Poppins Bold"/>
                <a:ea typeface="Poppins Bold"/>
                <a:cs typeface="Poppins Bold"/>
                <a:sym typeface="Poppins Bold"/>
              </a:rPr>
              <a:t>Emotion Matters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631353" y="3634093"/>
            <a:ext cx="4168575" cy="4851784"/>
            <a:chOff x="0" y="0"/>
            <a:chExt cx="1017199" cy="118394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17199" cy="1183945"/>
            </a:xfrm>
            <a:custGeom>
              <a:avLst/>
              <a:gdLst/>
              <a:ahLst/>
              <a:cxnLst/>
              <a:rect l="l" t="t" r="r" b="b"/>
              <a:pathLst>
                <a:path w="1017199" h="1183945">
                  <a:moveTo>
                    <a:pt x="1017199" y="185721"/>
                  </a:moveTo>
                  <a:lnTo>
                    <a:pt x="1017199" y="998224"/>
                  </a:lnTo>
                  <a:cubicBezTo>
                    <a:pt x="1017199" y="1047480"/>
                    <a:pt x="997632" y="1094719"/>
                    <a:pt x="962803" y="1129548"/>
                  </a:cubicBezTo>
                  <a:cubicBezTo>
                    <a:pt x="927973" y="1164378"/>
                    <a:pt x="880734" y="1183945"/>
                    <a:pt x="831478" y="1183945"/>
                  </a:cubicBezTo>
                  <a:lnTo>
                    <a:pt x="185721" y="1183945"/>
                  </a:lnTo>
                  <a:cubicBezTo>
                    <a:pt x="136465" y="1183945"/>
                    <a:pt x="89226" y="1164378"/>
                    <a:pt x="54396" y="1129548"/>
                  </a:cubicBezTo>
                  <a:cubicBezTo>
                    <a:pt x="19567" y="1094719"/>
                    <a:pt x="0" y="1047480"/>
                    <a:pt x="0" y="998224"/>
                  </a:cubicBezTo>
                  <a:lnTo>
                    <a:pt x="0" y="185721"/>
                  </a:lnTo>
                  <a:cubicBezTo>
                    <a:pt x="0" y="136465"/>
                    <a:pt x="19567" y="89226"/>
                    <a:pt x="54396" y="54396"/>
                  </a:cubicBezTo>
                  <a:cubicBezTo>
                    <a:pt x="89226" y="19567"/>
                    <a:pt x="136465" y="0"/>
                    <a:pt x="185721" y="0"/>
                  </a:cubicBezTo>
                  <a:lnTo>
                    <a:pt x="831478" y="0"/>
                  </a:lnTo>
                  <a:cubicBezTo>
                    <a:pt x="880734" y="0"/>
                    <a:pt x="927973" y="19567"/>
                    <a:pt x="962803" y="54396"/>
                  </a:cubicBezTo>
                  <a:cubicBezTo>
                    <a:pt x="997632" y="89226"/>
                    <a:pt x="1017199" y="136465"/>
                    <a:pt x="1017199" y="185721"/>
                  </a:cubicBezTo>
                  <a:close/>
                </a:path>
              </a:pathLst>
            </a:custGeom>
            <a:solidFill>
              <a:srgbClr val="DDC4A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1017199" cy="12410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06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438187" y="3781374"/>
            <a:ext cx="3229512" cy="1626500"/>
          </a:xfrm>
          <a:custGeom>
            <a:avLst/>
            <a:gdLst/>
            <a:ahLst/>
            <a:cxnLst/>
            <a:rect l="l" t="t" r="r" b="b"/>
            <a:pathLst>
              <a:path w="3229512" h="1626500">
                <a:moveTo>
                  <a:pt x="0" y="0"/>
                </a:moveTo>
                <a:lnTo>
                  <a:pt x="3229512" y="0"/>
                </a:lnTo>
                <a:lnTo>
                  <a:pt x="3229512" y="1626499"/>
                </a:lnTo>
                <a:lnTo>
                  <a:pt x="0" y="1626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6359981" y="3781374"/>
            <a:ext cx="3229512" cy="1626500"/>
          </a:xfrm>
          <a:custGeom>
            <a:avLst/>
            <a:gdLst/>
            <a:ahLst/>
            <a:cxnLst/>
            <a:rect l="l" t="t" r="r" b="b"/>
            <a:pathLst>
              <a:path w="3229512" h="1626500">
                <a:moveTo>
                  <a:pt x="0" y="0"/>
                </a:moveTo>
                <a:lnTo>
                  <a:pt x="3229512" y="0"/>
                </a:lnTo>
                <a:lnTo>
                  <a:pt x="3229512" y="1626499"/>
                </a:lnTo>
                <a:lnTo>
                  <a:pt x="0" y="1626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9" name="Freeform 19"/>
          <p:cNvSpPr/>
          <p:nvPr/>
        </p:nvSpPr>
        <p:spPr>
          <a:xfrm>
            <a:off x="11143696" y="3802597"/>
            <a:ext cx="3229512" cy="1626500"/>
          </a:xfrm>
          <a:custGeom>
            <a:avLst/>
            <a:gdLst/>
            <a:ahLst/>
            <a:cxnLst/>
            <a:rect l="l" t="t" r="r" b="b"/>
            <a:pathLst>
              <a:path w="3229512" h="1626500">
                <a:moveTo>
                  <a:pt x="0" y="0"/>
                </a:moveTo>
                <a:lnTo>
                  <a:pt x="3229512" y="0"/>
                </a:lnTo>
                <a:lnTo>
                  <a:pt x="3229512" y="1626499"/>
                </a:lnTo>
                <a:lnTo>
                  <a:pt x="0" y="16264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0" name="Freeform 20"/>
          <p:cNvSpPr/>
          <p:nvPr/>
        </p:nvSpPr>
        <p:spPr>
          <a:xfrm rot="-5400000">
            <a:off x="1211445" y="7894540"/>
            <a:ext cx="1181014" cy="3603905"/>
          </a:xfrm>
          <a:custGeom>
            <a:avLst/>
            <a:gdLst/>
            <a:ahLst/>
            <a:cxnLst/>
            <a:rect l="l" t="t" r="r" b="b"/>
            <a:pathLst>
              <a:path w="1181014" h="3603905">
                <a:moveTo>
                  <a:pt x="0" y="0"/>
                </a:moveTo>
                <a:lnTo>
                  <a:pt x="1181015" y="0"/>
                </a:lnTo>
                <a:lnTo>
                  <a:pt x="1181015" y="3603905"/>
                </a:lnTo>
                <a:lnTo>
                  <a:pt x="0" y="36039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-1097994" y="-302129"/>
            <a:ext cx="2613029" cy="2175346"/>
          </a:xfrm>
          <a:custGeom>
            <a:avLst/>
            <a:gdLst/>
            <a:ahLst/>
            <a:cxnLst/>
            <a:rect l="l" t="t" r="r" b="b"/>
            <a:pathLst>
              <a:path w="2613029" h="2175346">
                <a:moveTo>
                  <a:pt x="0" y="0"/>
                </a:moveTo>
                <a:lnTo>
                  <a:pt x="2613028" y="0"/>
                </a:lnTo>
                <a:lnTo>
                  <a:pt x="2613028" y="2175346"/>
                </a:lnTo>
                <a:lnTo>
                  <a:pt x="0" y="2175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028411" y="2063463"/>
            <a:ext cx="9588765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80"/>
              </a:lnSpc>
              <a:spcBef>
                <a:spcPct val="0"/>
              </a:spcBef>
            </a:pPr>
            <a:r>
              <a:rPr lang="en-US" sz="6800" dirty="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 Key Feat</a:t>
            </a:r>
            <a:r>
              <a:rPr lang="en-US" sz="6800" u="none" strike="noStrike" dirty="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ures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3040" y="6596861"/>
            <a:ext cx="3396707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dirty="0">
                <a:solidFill>
                  <a:srgbClr val="6B3000"/>
                </a:solidFill>
                <a:latin typeface="Poppins"/>
                <a:ea typeface="Poppins"/>
                <a:cs typeface="Poppins"/>
                <a:sym typeface="Poppins"/>
              </a:rPr>
              <a:t>Instead of treating everyone the same, care ethics values close relationships like family, friends, and community.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25627" y="6791821"/>
            <a:ext cx="2863866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dirty="0">
                <a:solidFill>
                  <a:srgbClr val="6B3000"/>
                </a:solidFill>
                <a:latin typeface="Poppins"/>
                <a:ea typeface="Poppins"/>
                <a:cs typeface="Poppins"/>
                <a:sym typeface="Poppins"/>
              </a:rPr>
              <a:t>Empathy and compassion guide decisions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267510" y="6747910"/>
            <a:ext cx="3163338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dirty="0">
                <a:solidFill>
                  <a:srgbClr val="6B3000"/>
                </a:solidFill>
                <a:latin typeface="Poppins"/>
                <a:ea typeface="Poppins"/>
                <a:cs typeface="Poppins"/>
                <a:sym typeface="Poppins"/>
              </a:rPr>
              <a:t>It rejects strict rules. What is right depends on the situation and people involved.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325150" y="5701549"/>
            <a:ext cx="3048058" cy="843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6B3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Context-Based Decisions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11" b="-131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85116" y="6061849"/>
            <a:ext cx="5171461" cy="137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Nel </a:t>
            </a:r>
            <a:r>
              <a:rPr lang="en-US" sz="2599" b="1" dirty="0" err="1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Noddings</a:t>
            </a:r>
            <a:r>
              <a:rPr lang="en-US" sz="2599" b="1" dirty="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– </a:t>
            </a:r>
          </a:p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emphasized caring as the foundation of ethics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56763" y="2810246"/>
            <a:ext cx="5492156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dirty="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Key Thinkers</a:t>
            </a:r>
          </a:p>
        </p:txBody>
      </p:sp>
      <p:sp>
        <p:nvSpPr>
          <p:cNvPr id="5" name="Freeform 5"/>
          <p:cNvSpPr/>
          <p:nvPr/>
        </p:nvSpPr>
        <p:spPr>
          <a:xfrm>
            <a:off x="13690108" y="6413855"/>
            <a:ext cx="4766475" cy="7511636"/>
          </a:xfrm>
          <a:custGeom>
            <a:avLst/>
            <a:gdLst/>
            <a:ahLst/>
            <a:cxnLst/>
            <a:rect l="l" t="t" r="r" b="b"/>
            <a:pathLst>
              <a:path w="4766475" h="7511636">
                <a:moveTo>
                  <a:pt x="0" y="0"/>
                </a:moveTo>
                <a:lnTo>
                  <a:pt x="4766475" y="0"/>
                </a:lnTo>
                <a:lnTo>
                  <a:pt x="4766475" y="7511637"/>
                </a:lnTo>
                <a:lnTo>
                  <a:pt x="0" y="7511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3972098" y="-4553416"/>
            <a:ext cx="4766475" cy="7511636"/>
          </a:xfrm>
          <a:custGeom>
            <a:avLst/>
            <a:gdLst/>
            <a:ahLst/>
            <a:cxnLst/>
            <a:rect l="l" t="t" r="r" b="b"/>
            <a:pathLst>
              <a:path w="4766475" h="7511636">
                <a:moveTo>
                  <a:pt x="0" y="0"/>
                </a:moveTo>
                <a:lnTo>
                  <a:pt x="4766474" y="0"/>
                </a:lnTo>
                <a:lnTo>
                  <a:pt x="4766474" y="7511636"/>
                </a:lnTo>
                <a:lnTo>
                  <a:pt x="0" y="7511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85116" y="1796111"/>
            <a:ext cx="1946268" cy="980211"/>
          </a:xfrm>
          <a:custGeom>
            <a:avLst/>
            <a:gdLst/>
            <a:ahLst/>
            <a:cxnLst/>
            <a:rect l="l" t="t" r="r" b="b"/>
            <a:pathLst>
              <a:path w="1946268" h="980211">
                <a:moveTo>
                  <a:pt x="0" y="0"/>
                </a:moveTo>
                <a:lnTo>
                  <a:pt x="1946267" y="0"/>
                </a:lnTo>
                <a:lnTo>
                  <a:pt x="1946267" y="980212"/>
                </a:lnTo>
                <a:lnTo>
                  <a:pt x="0" y="980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655793" y="8287664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5047283" y="-1640969"/>
            <a:ext cx="1599748" cy="4881686"/>
          </a:xfrm>
          <a:custGeom>
            <a:avLst/>
            <a:gdLst/>
            <a:ahLst/>
            <a:cxnLst/>
            <a:rect l="l" t="t" r="r" b="b"/>
            <a:pathLst>
              <a:path w="1599748" h="4881686">
                <a:moveTo>
                  <a:pt x="0" y="0"/>
                </a:moveTo>
                <a:lnTo>
                  <a:pt x="1599748" y="0"/>
                </a:lnTo>
                <a:lnTo>
                  <a:pt x="1599748" y="4881686"/>
                </a:lnTo>
                <a:lnTo>
                  <a:pt x="0" y="48816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5400000">
            <a:off x="10375171" y="1823099"/>
            <a:ext cx="5275473" cy="7734272"/>
            <a:chOff x="0" y="0"/>
            <a:chExt cx="4536064" cy="6650238"/>
          </a:xfrm>
        </p:grpSpPr>
        <p:sp>
          <p:nvSpPr>
            <p:cNvPr id="11" name="Freeform 11"/>
            <p:cNvSpPr/>
            <p:nvPr/>
          </p:nvSpPr>
          <p:spPr>
            <a:xfrm>
              <a:off x="189952" y="234031"/>
              <a:ext cx="4156159" cy="6182175"/>
            </a:xfrm>
            <a:custGeom>
              <a:avLst/>
              <a:gdLst/>
              <a:ahLst/>
              <a:cxnLst/>
              <a:rect l="l" t="t" r="r" b="b"/>
              <a:pathLst>
                <a:path w="4156159" h="6182175">
                  <a:moveTo>
                    <a:pt x="0" y="0"/>
                  </a:moveTo>
                  <a:lnTo>
                    <a:pt x="4156159" y="0"/>
                  </a:lnTo>
                  <a:lnTo>
                    <a:pt x="4156159" y="6182176"/>
                  </a:lnTo>
                  <a:lnTo>
                    <a:pt x="0" y="6182176"/>
                  </a:lnTo>
                  <a:close/>
                </a:path>
              </a:pathLst>
            </a:custGeom>
            <a:blipFill>
              <a:blip r:embed="rId7"/>
              <a:stretch>
                <a:fillRect l="-61763" r="-6176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56763" y="4318000"/>
            <a:ext cx="5567901" cy="137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 b="1" dirty="0">
                <a:solidFill>
                  <a:srgbClr val="0B0A0A"/>
                </a:solidFill>
                <a:latin typeface="Poppins Bold"/>
                <a:ea typeface="Poppins Bold"/>
                <a:cs typeface="Poppins Bold"/>
                <a:sym typeface="Poppins Bold"/>
              </a:rPr>
              <a:t>Carol Gilligan </a:t>
            </a:r>
            <a:r>
              <a:rPr lang="en-US" sz="2599" b="1" dirty="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–</a:t>
            </a:r>
          </a:p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0B0A0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criticized traditional ethics for ignoring women's perspectives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8600" y="0"/>
            <a:ext cx="185928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11" b="-131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43400" y="2201000"/>
            <a:ext cx="4367092" cy="962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80"/>
              </a:lnSpc>
            </a:pPr>
            <a:r>
              <a:rPr lang="en-US" sz="6800" dirty="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Example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43400" y="3782054"/>
            <a:ext cx="6250801" cy="1031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Imagine your friend is sick before an exam: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20690" y="5231761"/>
            <a:ext cx="6250801" cy="154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A rule-based theory might say: “Follow rules, don’t help if it breaks fairness.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20689" y="7234633"/>
            <a:ext cx="6250801" cy="1545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2899" dirty="0">
                <a:solidFill>
                  <a:srgbClr val="0B0A0A"/>
                </a:solidFill>
                <a:latin typeface="Poppins"/>
                <a:ea typeface="Poppins"/>
                <a:cs typeface="Poppins"/>
                <a:sym typeface="Poppins"/>
              </a:rPr>
              <a:t>Care ethics says: “Help your friend because they need care and support.”</a:t>
            </a:r>
          </a:p>
        </p:txBody>
      </p:sp>
      <p:sp>
        <p:nvSpPr>
          <p:cNvPr id="7" name="Freeform 7"/>
          <p:cNvSpPr/>
          <p:nvPr/>
        </p:nvSpPr>
        <p:spPr>
          <a:xfrm>
            <a:off x="-994920" y="6122114"/>
            <a:ext cx="4766475" cy="7511636"/>
          </a:xfrm>
          <a:custGeom>
            <a:avLst/>
            <a:gdLst/>
            <a:ahLst/>
            <a:cxnLst/>
            <a:rect l="l" t="t" r="r" b="b"/>
            <a:pathLst>
              <a:path w="4766475" h="7511636">
                <a:moveTo>
                  <a:pt x="0" y="0"/>
                </a:moveTo>
                <a:lnTo>
                  <a:pt x="4766475" y="0"/>
                </a:lnTo>
                <a:lnTo>
                  <a:pt x="4766475" y="7511637"/>
                </a:lnTo>
                <a:lnTo>
                  <a:pt x="0" y="7511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5400000">
            <a:off x="13509292" y="-1569881"/>
            <a:ext cx="4766475" cy="7511636"/>
          </a:xfrm>
          <a:custGeom>
            <a:avLst/>
            <a:gdLst/>
            <a:ahLst/>
            <a:cxnLst/>
            <a:rect l="l" t="t" r="r" b="b"/>
            <a:pathLst>
              <a:path w="4766475" h="7511636">
                <a:moveTo>
                  <a:pt x="0" y="0"/>
                </a:moveTo>
                <a:lnTo>
                  <a:pt x="4766474" y="0"/>
                </a:lnTo>
                <a:lnTo>
                  <a:pt x="4766474" y="7511636"/>
                </a:lnTo>
                <a:lnTo>
                  <a:pt x="0" y="75116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 flipV="1">
            <a:off x="1640969" y="-1640969"/>
            <a:ext cx="1599748" cy="4881686"/>
          </a:xfrm>
          <a:custGeom>
            <a:avLst/>
            <a:gdLst/>
            <a:ahLst/>
            <a:cxnLst/>
            <a:rect l="l" t="t" r="r" b="b"/>
            <a:pathLst>
              <a:path w="1599748" h="4881686">
                <a:moveTo>
                  <a:pt x="0" y="4881686"/>
                </a:moveTo>
                <a:lnTo>
                  <a:pt x="1599748" y="4881686"/>
                </a:lnTo>
                <a:lnTo>
                  <a:pt x="1599748" y="0"/>
                </a:lnTo>
                <a:lnTo>
                  <a:pt x="0" y="0"/>
                </a:lnTo>
                <a:lnTo>
                  <a:pt x="0" y="488168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89267" y="9160475"/>
            <a:ext cx="1406524" cy="670017"/>
          </a:xfrm>
          <a:custGeom>
            <a:avLst/>
            <a:gdLst/>
            <a:ahLst/>
            <a:cxnLst/>
            <a:rect l="l" t="t" r="r" b="b"/>
            <a:pathLst>
              <a:path w="1406524" h="670017">
                <a:moveTo>
                  <a:pt x="0" y="0"/>
                </a:moveTo>
                <a:lnTo>
                  <a:pt x="1406524" y="0"/>
                </a:lnTo>
                <a:lnTo>
                  <a:pt x="1406524" y="670017"/>
                </a:lnTo>
                <a:lnTo>
                  <a:pt x="0" y="670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90009" y="-93633"/>
            <a:ext cx="18668018" cy="1055398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11" b="-13111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TextBox 3"/>
          <p:cNvSpPr txBox="1"/>
          <p:nvPr/>
        </p:nvSpPr>
        <p:spPr>
          <a:xfrm>
            <a:off x="1820173" y="3180650"/>
            <a:ext cx="5627239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dirty="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Strengths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3412" y="4810518"/>
            <a:ext cx="8235199" cy="2574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Promotes kindness, empathy, and human connection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Reflects real-life moral decisions</a:t>
            </a:r>
          </a:p>
          <a:p>
            <a:pPr marL="626107" lvl="1" indent="-313054" algn="l">
              <a:lnSpc>
                <a:spcPts val="4059"/>
              </a:lnSpc>
              <a:buFont typeface="Arial"/>
              <a:buChar char="•"/>
            </a:pPr>
            <a:r>
              <a:rPr lang="en-US" sz="2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Values personal relationships</a:t>
            </a:r>
          </a:p>
          <a:p>
            <a:pPr algn="l">
              <a:lnSpc>
                <a:spcPts val="4059"/>
              </a:lnSpc>
            </a:pPr>
            <a:endParaRPr lang="en-US" sz="2899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6530971" y="731568"/>
            <a:ext cx="2613029" cy="2175346"/>
          </a:xfrm>
          <a:custGeom>
            <a:avLst/>
            <a:gdLst/>
            <a:ahLst/>
            <a:cxnLst/>
            <a:rect l="l" t="t" r="r" b="b"/>
            <a:pathLst>
              <a:path w="2613029" h="2175346">
                <a:moveTo>
                  <a:pt x="0" y="0"/>
                </a:moveTo>
                <a:lnTo>
                  <a:pt x="2613029" y="0"/>
                </a:lnTo>
                <a:lnTo>
                  <a:pt x="2613029" y="2175346"/>
                </a:lnTo>
                <a:lnTo>
                  <a:pt x="0" y="2175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820173" y="1092502"/>
            <a:ext cx="3874382" cy="1951280"/>
          </a:xfrm>
          <a:custGeom>
            <a:avLst/>
            <a:gdLst/>
            <a:ahLst/>
            <a:cxnLst/>
            <a:rect l="l" t="t" r="r" b="b"/>
            <a:pathLst>
              <a:path w="3874382" h="1951280">
                <a:moveTo>
                  <a:pt x="0" y="0"/>
                </a:moveTo>
                <a:lnTo>
                  <a:pt x="3874382" y="0"/>
                </a:lnTo>
                <a:lnTo>
                  <a:pt x="3874382" y="1951280"/>
                </a:lnTo>
                <a:lnTo>
                  <a:pt x="0" y="1951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Freeform 7"/>
          <p:cNvSpPr/>
          <p:nvPr/>
        </p:nvSpPr>
        <p:spPr>
          <a:xfrm>
            <a:off x="14049432" y="5388176"/>
            <a:ext cx="4090694" cy="6446652"/>
          </a:xfrm>
          <a:custGeom>
            <a:avLst/>
            <a:gdLst/>
            <a:ahLst/>
            <a:cxnLst/>
            <a:rect l="l" t="t" r="r" b="b"/>
            <a:pathLst>
              <a:path w="4090694" h="6446652">
                <a:moveTo>
                  <a:pt x="0" y="0"/>
                </a:moveTo>
                <a:lnTo>
                  <a:pt x="4090694" y="0"/>
                </a:lnTo>
                <a:lnTo>
                  <a:pt x="4090694" y="6446652"/>
                </a:lnTo>
                <a:lnTo>
                  <a:pt x="0" y="6446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489341" y="8611502"/>
            <a:ext cx="2169054" cy="2169054"/>
          </a:xfrm>
          <a:custGeom>
            <a:avLst/>
            <a:gdLst/>
            <a:ahLst/>
            <a:cxnLst/>
            <a:rect l="l" t="t" r="r" b="b"/>
            <a:pathLst>
              <a:path w="2169054" h="2169054">
                <a:moveTo>
                  <a:pt x="0" y="0"/>
                </a:moveTo>
                <a:lnTo>
                  <a:pt x="2169054" y="0"/>
                </a:lnTo>
                <a:lnTo>
                  <a:pt x="2169054" y="2169054"/>
                </a:lnTo>
                <a:lnTo>
                  <a:pt x="0" y="2169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15376051" y="-1474494"/>
            <a:ext cx="1437455" cy="4386442"/>
          </a:xfrm>
          <a:custGeom>
            <a:avLst/>
            <a:gdLst/>
            <a:ahLst/>
            <a:cxnLst/>
            <a:rect l="l" t="t" r="r" b="b"/>
            <a:pathLst>
              <a:path w="1437455" h="4386442">
                <a:moveTo>
                  <a:pt x="0" y="0"/>
                </a:moveTo>
                <a:lnTo>
                  <a:pt x="1437455" y="0"/>
                </a:lnTo>
                <a:lnTo>
                  <a:pt x="1437455" y="4386443"/>
                </a:lnTo>
                <a:lnTo>
                  <a:pt x="0" y="4386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11" b="-131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799832" y="4386292"/>
            <a:ext cx="9225731" cy="2574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Can be biased (favoring close people over strangers)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Lacks clear rules → may cause confusion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May ignore justice or fairness sometimes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214728" y="2786456"/>
            <a:ext cx="7033375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dirty="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Criticisms</a:t>
            </a:r>
          </a:p>
        </p:txBody>
      </p:sp>
      <p:sp>
        <p:nvSpPr>
          <p:cNvPr id="5" name="Freeform 5"/>
          <p:cNvSpPr/>
          <p:nvPr/>
        </p:nvSpPr>
        <p:spPr>
          <a:xfrm rot="-10800000">
            <a:off x="14030781" y="-3049145"/>
            <a:ext cx="4766475" cy="7511636"/>
          </a:xfrm>
          <a:custGeom>
            <a:avLst/>
            <a:gdLst/>
            <a:ahLst/>
            <a:cxnLst/>
            <a:rect l="l" t="t" r="r" b="b"/>
            <a:pathLst>
              <a:path w="4766475" h="7511636">
                <a:moveTo>
                  <a:pt x="0" y="0"/>
                </a:moveTo>
                <a:lnTo>
                  <a:pt x="4766475" y="0"/>
                </a:lnTo>
                <a:lnTo>
                  <a:pt x="4766475" y="7511637"/>
                </a:lnTo>
                <a:lnTo>
                  <a:pt x="0" y="75116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 flipV="1">
            <a:off x="15047283" y="7046283"/>
            <a:ext cx="1599748" cy="4881686"/>
          </a:xfrm>
          <a:custGeom>
            <a:avLst/>
            <a:gdLst/>
            <a:ahLst/>
            <a:cxnLst/>
            <a:rect l="l" t="t" r="r" b="b"/>
            <a:pathLst>
              <a:path w="1599748" h="4881686">
                <a:moveTo>
                  <a:pt x="0" y="4881686"/>
                </a:moveTo>
                <a:lnTo>
                  <a:pt x="1599748" y="4881686"/>
                </a:lnTo>
                <a:lnTo>
                  <a:pt x="1599748" y="0"/>
                </a:lnTo>
                <a:lnTo>
                  <a:pt x="0" y="0"/>
                </a:lnTo>
                <a:lnTo>
                  <a:pt x="0" y="4881686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101563" y="350969"/>
            <a:ext cx="2613029" cy="2175346"/>
          </a:xfrm>
          <a:custGeom>
            <a:avLst/>
            <a:gdLst/>
            <a:ahLst/>
            <a:cxnLst/>
            <a:rect l="l" t="t" r="r" b="b"/>
            <a:pathLst>
              <a:path w="2613029" h="2175346">
                <a:moveTo>
                  <a:pt x="0" y="0"/>
                </a:moveTo>
                <a:lnTo>
                  <a:pt x="2613029" y="0"/>
                </a:lnTo>
                <a:lnTo>
                  <a:pt x="2613029" y="2175346"/>
                </a:lnTo>
                <a:lnTo>
                  <a:pt x="0" y="2175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2511466" y="8923292"/>
            <a:ext cx="1406524" cy="670017"/>
          </a:xfrm>
          <a:custGeom>
            <a:avLst/>
            <a:gdLst/>
            <a:ahLst/>
            <a:cxnLst/>
            <a:rect l="l" t="t" r="r" b="b"/>
            <a:pathLst>
              <a:path w="1406524" h="670017">
                <a:moveTo>
                  <a:pt x="1406524" y="0"/>
                </a:moveTo>
                <a:lnTo>
                  <a:pt x="0" y="0"/>
                </a:lnTo>
                <a:lnTo>
                  <a:pt x="0" y="670016"/>
                </a:lnTo>
                <a:lnTo>
                  <a:pt x="1406524" y="670016"/>
                </a:lnTo>
                <a:lnTo>
                  <a:pt x="140652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11" b="-131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03752" y="4174501"/>
            <a:ext cx="10021592" cy="2059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Care ethics teaches that being moral is not just about following rules, but about caring for others and maintaining meaningful relationships. It brings a more human and emotional side to ethical thinking.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503752" y="2900461"/>
            <a:ext cx="6725864" cy="906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00"/>
              </a:lnSpc>
            </a:pPr>
            <a:r>
              <a:rPr lang="en-US" sz="6800" dirty="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Conclusion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1469996" y="6038180"/>
            <a:ext cx="5469519" cy="8619585"/>
          </a:xfrm>
          <a:custGeom>
            <a:avLst/>
            <a:gdLst/>
            <a:ahLst/>
            <a:cxnLst/>
            <a:rect l="l" t="t" r="r" b="b"/>
            <a:pathLst>
              <a:path w="5469519" h="8619585">
                <a:moveTo>
                  <a:pt x="0" y="0"/>
                </a:moveTo>
                <a:lnTo>
                  <a:pt x="5469518" y="0"/>
                </a:lnTo>
                <a:lnTo>
                  <a:pt x="5469518" y="8619586"/>
                </a:lnTo>
                <a:lnTo>
                  <a:pt x="0" y="86195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15376051" y="-1474494"/>
            <a:ext cx="1437455" cy="4386442"/>
          </a:xfrm>
          <a:custGeom>
            <a:avLst/>
            <a:gdLst/>
            <a:ahLst/>
            <a:cxnLst/>
            <a:rect l="l" t="t" r="r" b="b"/>
            <a:pathLst>
              <a:path w="1437455" h="4386442">
                <a:moveTo>
                  <a:pt x="0" y="0"/>
                </a:moveTo>
                <a:lnTo>
                  <a:pt x="1437455" y="0"/>
                </a:lnTo>
                <a:lnTo>
                  <a:pt x="1437455" y="4386443"/>
                </a:lnTo>
                <a:lnTo>
                  <a:pt x="0" y="43864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89267" y="9160475"/>
            <a:ext cx="1406524" cy="670017"/>
          </a:xfrm>
          <a:custGeom>
            <a:avLst/>
            <a:gdLst/>
            <a:ahLst/>
            <a:cxnLst/>
            <a:rect l="l" t="t" r="r" b="b"/>
            <a:pathLst>
              <a:path w="1406524" h="670017">
                <a:moveTo>
                  <a:pt x="0" y="0"/>
                </a:moveTo>
                <a:lnTo>
                  <a:pt x="1406524" y="0"/>
                </a:lnTo>
                <a:lnTo>
                  <a:pt x="1406524" y="670017"/>
                </a:lnTo>
                <a:lnTo>
                  <a:pt x="0" y="6700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111" b="-13111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39159" y="3095089"/>
            <a:ext cx="6141747" cy="303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1999"/>
              </a:lnSpc>
              <a:spcBef>
                <a:spcPct val="0"/>
              </a:spcBef>
            </a:pPr>
            <a:r>
              <a:rPr lang="en-US" sz="9999" u="none" strike="noStrike" dirty="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Thank You</a:t>
            </a:r>
          </a:p>
          <a:p>
            <a:pPr marL="0" lvl="0" indent="0" algn="just">
              <a:lnSpc>
                <a:spcPts val="11999"/>
              </a:lnSpc>
              <a:spcBef>
                <a:spcPct val="0"/>
              </a:spcBef>
            </a:pPr>
            <a:r>
              <a:rPr lang="en-US" sz="9999" u="none" strike="noStrike" dirty="0">
                <a:solidFill>
                  <a:srgbClr val="6B3000"/>
                </a:solidFill>
                <a:latin typeface="Norwester"/>
                <a:ea typeface="Norwester"/>
                <a:cs typeface="Norwester"/>
                <a:sym typeface="Norwester"/>
              </a:rPr>
              <a:t>Very Much!</a:t>
            </a:r>
          </a:p>
        </p:txBody>
      </p:sp>
      <p:sp>
        <p:nvSpPr>
          <p:cNvPr id="4" name="Freeform 4"/>
          <p:cNvSpPr/>
          <p:nvPr/>
        </p:nvSpPr>
        <p:spPr>
          <a:xfrm>
            <a:off x="15007043" y="427361"/>
            <a:ext cx="2613029" cy="2175346"/>
          </a:xfrm>
          <a:custGeom>
            <a:avLst/>
            <a:gdLst/>
            <a:ahLst/>
            <a:cxnLst/>
            <a:rect l="l" t="t" r="r" b="b"/>
            <a:pathLst>
              <a:path w="2613029" h="2175346">
                <a:moveTo>
                  <a:pt x="0" y="0"/>
                </a:moveTo>
                <a:lnTo>
                  <a:pt x="2613029" y="0"/>
                </a:lnTo>
                <a:lnTo>
                  <a:pt x="2613029" y="2175346"/>
                </a:lnTo>
                <a:lnTo>
                  <a:pt x="0" y="21753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 flipH="1" flipV="1">
            <a:off x="2314882" y="5691937"/>
            <a:ext cx="2256733" cy="6886497"/>
          </a:xfrm>
          <a:custGeom>
            <a:avLst/>
            <a:gdLst/>
            <a:ahLst/>
            <a:cxnLst/>
            <a:rect l="l" t="t" r="r" b="b"/>
            <a:pathLst>
              <a:path w="2256733" h="6886497">
                <a:moveTo>
                  <a:pt x="2256733" y="6886497"/>
                </a:moveTo>
                <a:lnTo>
                  <a:pt x="0" y="6886497"/>
                </a:lnTo>
                <a:lnTo>
                  <a:pt x="0" y="0"/>
                </a:lnTo>
                <a:lnTo>
                  <a:pt x="2256733" y="0"/>
                </a:lnTo>
                <a:lnTo>
                  <a:pt x="2256733" y="688649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3234200" y="6133564"/>
            <a:ext cx="5388429" cy="4114800"/>
          </a:xfrm>
          <a:custGeom>
            <a:avLst/>
            <a:gdLst/>
            <a:ahLst/>
            <a:cxnLst/>
            <a:rect l="l" t="t" r="r" b="b"/>
            <a:pathLst>
              <a:path w="5388429" h="4114800">
                <a:moveTo>
                  <a:pt x="0" y="0"/>
                </a:moveTo>
                <a:lnTo>
                  <a:pt x="5388429" y="0"/>
                </a:lnTo>
                <a:lnTo>
                  <a:pt x="5388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236</Words>
  <Application>Microsoft Office PowerPoint</Application>
  <PresentationFormat>Custom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Poppins</vt:lpstr>
      <vt:lpstr>Poppins Semi-Bold</vt:lpstr>
      <vt:lpstr>Calibri</vt:lpstr>
      <vt:lpstr>Norwester</vt:lpstr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Brown and White Modern Investor Pitch Deck Presentation</dc:title>
  <dc:creator>Esrat Jhahan Nur</dc:creator>
  <cp:lastModifiedBy>LENOVO</cp:lastModifiedBy>
  <cp:revision>3</cp:revision>
  <dcterms:created xsi:type="dcterms:W3CDTF">2006-08-16T00:00:00Z</dcterms:created>
  <dcterms:modified xsi:type="dcterms:W3CDTF">2026-04-06T15:32:02Z</dcterms:modified>
  <dc:identifier>DAHGFng4Bx4</dc:identifier>
</cp:coreProperties>
</file>